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1"/>
  </p:sldMasterIdLst>
  <p:notesMasterIdLst>
    <p:notesMasterId r:id="rId12"/>
  </p:notesMasterIdLst>
  <p:handoutMasterIdLst>
    <p:handoutMasterId r:id="rId13"/>
  </p:handoutMasterIdLst>
  <p:sldIdLst>
    <p:sldId id="260" r:id="rId2"/>
    <p:sldId id="261" r:id="rId3"/>
    <p:sldId id="262" r:id="rId4"/>
    <p:sldId id="263" r:id="rId5"/>
    <p:sldId id="264" r:id="rId6"/>
    <p:sldId id="265" r:id="rId7"/>
    <p:sldId id="266" r:id="rId8"/>
    <p:sldId id="267"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486C72-454B-44C1-A1AA-9B8DD2F88BDD}" v="27" dt="2026-08-01T19:11:05.9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3" autoAdjust="0"/>
    <p:restoredTop sz="86356" autoAdjust="0"/>
  </p:normalViewPr>
  <p:slideViewPr>
    <p:cSldViewPr snapToGrid="0" showGuides="1">
      <p:cViewPr varScale="1">
        <p:scale>
          <a:sx n="69" d="100"/>
          <a:sy n="69" d="100"/>
        </p:scale>
        <p:origin x="1158" y="48"/>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Khatri" userId="ef5ecfc1d5af120f" providerId="LiveId" clId="{11488113-00F5-4282-B637-1B35CCE13281}"/>
    <pc:docChg chg="undo custSel addSld modSld">
      <pc:chgData name="Jay Khatri" userId="ef5ecfc1d5af120f" providerId="LiveId" clId="{11488113-00F5-4282-B637-1B35CCE13281}" dt="2026-08-01T19:11:47.155" v="342" actId="20577"/>
      <pc:docMkLst>
        <pc:docMk/>
      </pc:docMkLst>
      <pc:sldChg chg="modSp new mod modNotesTx">
        <pc:chgData name="Jay Khatri" userId="ef5ecfc1d5af120f" providerId="LiveId" clId="{11488113-00F5-4282-B637-1B35CCE13281}" dt="2026-07-31T23:35:36.421" v="15" actId="20577"/>
        <pc:sldMkLst>
          <pc:docMk/>
          <pc:sldMk cId="1722467265" sldId="263"/>
        </pc:sldMkLst>
        <pc:spChg chg="mod">
          <ac:chgData name="Jay Khatri" userId="ef5ecfc1d5af120f" providerId="LiveId" clId="{11488113-00F5-4282-B637-1B35CCE13281}" dt="2026-07-31T23:34:31.526" v="4" actId="27636"/>
          <ac:spMkLst>
            <pc:docMk/>
            <pc:sldMk cId="1722467265" sldId="263"/>
            <ac:spMk id="2" creationId="{EAD0BEA5-C3A8-07F0-65BA-AF4FD39135CE}"/>
          </ac:spMkLst>
        </pc:spChg>
        <pc:spChg chg="mod">
          <ac:chgData name="Jay Khatri" userId="ef5ecfc1d5af120f" providerId="LiveId" clId="{11488113-00F5-4282-B637-1B35CCE13281}" dt="2026-07-31T23:35:12.499" v="12" actId="20577"/>
          <ac:spMkLst>
            <pc:docMk/>
            <pc:sldMk cId="1722467265" sldId="263"/>
            <ac:spMk id="3" creationId="{E3C3D887-7B31-DF01-07BC-06AD2F01B7F1}"/>
          </ac:spMkLst>
        </pc:spChg>
      </pc:sldChg>
      <pc:sldChg chg="addSp modSp new mod modNotesTx">
        <pc:chgData name="Jay Khatri" userId="ef5ecfc1d5af120f" providerId="LiveId" clId="{11488113-00F5-4282-B637-1B35CCE13281}" dt="2026-07-31T23:48:17.067" v="33" actId="20577"/>
        <pc:sldMkLst>
          <pc:docMk/>
          <pc:sldMk cId="2073057362" sldId="264"/>
        </pc:sldMkLst>
        <pc:spChg chg="mod">
          <ac:chgData name="Jay Khatri" userId="ef5ecfc1d5af120f" providerId="LiveId" clId="{11488113-00F5-4282-B637-1B35CCE13281}" dt="2026-07-31T23:39:06.999" v="20" actId="27636"/>
          <ac:spMkLst>
            <pc:docMk/>
            <pc:sldMk cId="2073057362" sldId="264"/>
            <ac:spMk id="2" creationId="{E15A1322-58FC-8DCD-C0C3-8CE9A9B47892}"/>
          </ac:spMkLst>
        </pc:spChg>
        <pc:spChg chg="mod">
          <ac:chgData name="Jay Khatri" userId="ef5ecfc1d5af120f" providerId="LiveId" clId="{11488113-00F5-4282-B637-1B35CCE13281}" dt="2026-07-31T23:39:30.522" v="28" actId="20577"/>
          <ac:spMkLst>
            <pc:docMk/>
            <pc:sldMk cId="2073057362" sldId="264"/>
            <ac:spMk id="3" creationId="{7ADC99EB-26E2-3C96-551D-298FF6D66DAA}"/>
          </ac:spMkLst>
        </pc:spChg>
        <pc:picChg chg="add mod">
          <ac:chgData name="Jay Khatri" userId="ef5ecfc1d5af120f" providerId="LiveId" clId="{11488113-00F5-4282-B637-1B35CCE13281}" dt="2026-07-31T23:46:46.382" v="30" actId="1076"/>
          <ac:picMkLst>
            <pc:docMk/>
            <pc:sldMk cId="2073057362" sldId="264"/>
            <ac:picMk id="5" creationId="{E1A5E76E-5CD1-49CF-3757-69EEE81A608C}"/>
          </ac:picMkLst>
        </pc:picChg>
      </pc:sldChg>
      <pc:sldChg chg="addSp modSp new mod">
        <pc:chgData name="Jay Khatri" userId="ef5ecfc1d5af120f" providerId="LiveId" clId="{11488113-00F5-4282-B637-1B35CCE13281}" dt="2026-08-01T00:03:36.384" v="56" actId="1076"/>
        <pc:sldMkLst>
          <pc:docMk/>
          <pc:sldMk cId="1102766925" sldId="265"/>
        </pc:sldMkLst>
        <pc:spChg chg="mod">
          <ac:chgData name="Jay Khatri" userId="ef5ecfc1d5af120f" providerId="LiveId" clId="{11488113-00F5-4282-B637-1B35CCE13281}" dt="2026-07-31T23:54:34.842" v="38" actId="27636"/>
          <ac:spMkLst>
            <pc:docMk/>
            <pc:sldMk cId="1102766925" sldId="265"/>
            <ac:spMk id="2" creationId="{9A11673D-AB3D-69FF-2EE2-3C0020EA54C9}"/>
          </ac:spMkLst>
        </pc:spChg>
        <pc:spChg chg="mod">
          <ac:chgData name="Jay Khatri" userId="ef5ecfc1d5af120f" providerId="LiveId" clId="{11488113-00F5-4282-B637-1B35CCE13281}" dt="2026-08-01T00:03:13.023" v="53" actId="1076"/>
          <ac:spMkLst>
            <pc:docMk/>
            <pc:sldMk cId="1102766925" sldId="265"/>
            <ac:spMk id="3" creationId="{015BE275-7D01-7B00-64E5-B6650BCCEB74}"/>
          </ac:spMkLst>
        </pc:spChg>
        <pc:picChg chg="add mod">
          <ac:chgData name="Jay Khatri" userId="ef5ecfc1d5af120f" providerId="LiveId" clId="{11488113-00F5-4282-B637-1B35CCE13281}" dt="2026-08-01T00:03:36.384" v="56" actId="1076"/>
          <ac:picMkLst>
            <pc:docMk/>
            <pc:sldMk cId="1102766925" sldId="265"/>
            <ac:picMk id="5" creationId="{C3E2D287-9D46-1E3A-D84B-B656D0BF94ED}"/>
          </ac:picMkLst>
        </pc:picChg>
        <pc:picChg chg="add mod">
          <ac:chgData name="Jay Khatri" userId="ef5ecfc1d5af120f" providerId="LiveId" clId="{11488113-00F5-4282-B637-1B35CCE13281}" dt="2026-08-01T00:03:24.262" v="55" actId="14100"/>
          <ac:picMkLst>
            <pc:docMk/>
            <pc:sldMk cId="1102766925" sldId="265"/>
            <ac:picMk id="7" creationId="{3886E3DC-B907-9010-5AAC-A3D2434BBD02}"/>
          </ac:picMkLst>
        </pc:picChg>
      </pc:sldChg>
      <pc:sldChg chg="addSp modSp new mod modNotesTx">
        <pc:chgData name="Jay Khatri" userId="ef5ecfc1d5af120f" providerId="LiveId" clId="{11488113-00F5-4282-B637-1B35CCE13281}" dt="2026-08-01T18:55:49.514" v="72" actId="20577"/>
        <pc:sldMkLst>
          <pc:docMk/>
          <pc:sldMk cId="2545724027" sldId="266"/>
        </pc:sldMkLst>
        <pc:spChg chg="mod">
          <ac:chgData name="Jay Khatri" userId="ef5ecfc1d5af120f" providerId="LiveId" clId="{11488113-00F5-4282-B637-1B35CCE13281}" dt="2026-08-01T17:31:48.763" v="61" actId="27636"/>
          <ac:spMkLst>
            <pc:docMk/>
            <pc:sldMk cId="2545724027" sldId="266"/>
            <ac:spMk id="2" creationId="{C4C2CB4B-592B-0618-EEB2-6FC603346866}"/>
          </ac:spMkLst>
        </pc:spChg>
        <pc:spChg chg="mod">
          <ac:chgData name="Jay Khatri" userId="ef5ecfc1d5af120f" providerId="LiveId" clId="{11488113-00F5-4282-B637-1B35CCE13281}" dt="2026-08-01T17:32:53.354" v="71" actId="20577"/>
          <ac:spMkLst>
            <pc:docMk/>
            <pc:sldMk cId="2545724027" sldId="266"/>
            <ac:spMk id="3" creationId="{3775187A-9325-A76B-0134-973E6ABA3941}"/>
          </ac:spMkLst>
        </pc:spChg>
        <pc:picChg chg="add mod">
          <ac:chgData name="Jay Khatri" userId="ef5ecfc1d5af120f" providerId="LiveId" clId="{11488113-00F5-4282-B637-1B35CCE13281}" dt="2026-08-01T17:32:00.430" v="63" actId="1076"/>
          <ac:picMkLst>
            <pc:docMk/>
            <pc:sldMk cId="2545724027" sldId="266"/>
            <ac:picMk id="5" creationId="{D282EB24-EDFC-5619-D416-63F3EB201270}"/>
          </ac:picMkLst>
        </pc:picChg>
      </pc:sldChg>
      <pc:sldChg chg="addSp delSp modSp new mod modNotesTx">
        <pc:chgData name="Jay Khatri" userId="ef5ecfc1d5af120f" providerId="LiveId" clId="{11488113-00F5-4282-B637-1B35CCE13281}" dt="2026-08-01T19:01:09.815" v="110" actId="1076"/>
        <pc:sldMkLst>
          <pc:docMk/>
          <pc:sldMk cId="2976007933" sldId="267"/>
        </pc:sldMkLst>
        <pc:spChg chg="mod">
          <ac:chgData name="Jay Khatri" userId="ef5ecfc1d5af120f" providerId="LiveId" clId="{11488113-00F5-4282-B637-1B35CCE13281}" dt="2026-08-01T18:56:57.758" v="77" actId="27636"/>
          <ac:spMkLst>
            <pc:docMk/>
            <pc:sldMk cId="2976007933" sldId="267"/>
            <ac:spMk id="2" creationId="{2D49B19F-4D87-A4AB-C49B-E4147E2CFE9F}"/>
          </ac:spMkLst>
        </pc:spChg>
        <pc:spChg chg="add del mod">
          <ac:chgData name="Jay Khatri" userId="ef5ecfc1d5af120f" providerId="LiveId" clId="{11488113-00F5-4282-B637-1B35CCE13281}" dt="2026-08-01T19:01:06.083" v="109" actId="20577"/>
          <ac:spMkLst>
            <pc:docMk/>
            <pc:sldMk cId="2976007933" sldId="267"/>
            <ac:spMk id="3" creationId="{E287F950-E531-679D-2D83-D64C9EEA3C8F}"/>
          </ac:spMkLst>
        </pc:spChg>
        <pc:picChg chg="add del mod ord">
          <ac:chgData name="Jay Khatri" userId="ef5ecfc1d5af120f" providerId="LiveId" clId="{11488113-00F5-4282-B637-1B35CCE13281}" dt="2026-08-01T19:00:33.514" v="95" actId="22"/>
          <ac:picMkLst>
            <pc:docMk/>
            <pc:sldMk cId="2976007933" sldId="267"/>
            <ac:picMk id="5" creationId="{C6AF4296-3DC1-D3E7-40FC-6FFA3C42BEC0}"/>
          </ac:picMkLst>
        </pc:picChg>
        <pc:picChg chg="add mod">
          <ac:chgData name="Jay Khatri" userId="ef5ecfc1d5af120f" providerId="LiveId" clId="{11488113-00F5-4282-B637-1B35CCE13281}" dt="2026-08-01T19:01:09.815" v="110" actId="1076"/>
          <ac:picMkLst>
            <pc:docMk/>
            <pc:sldMk cId="2976007933" sldId="267"/>
            <ac:picMk id="7" creationId="{ED34116A-1E9A-6FB1-647D-FC17272C828E}"/>
          </ac:picMkLst>
        </pc:picChg>
      </pc:sldChg>
      <pc:sldChg chg="addSp modSp new mod modNotesTx">
        <pc:chgData name="Jay Khatri" userId="ef5ecfc1d5af120f" providerId="LiveId" clId="{11488113-00F5-4282-B637-1B35CCE13281}" dt="2026-08-01T19:07:37.459" v="130" actId="20577"/>
        <pc:sldMkLst>
          <pc:docMk/>
          <pc:sldMk cId="3164907711" sldId="268"/>
        </pc:sldMkLst>
        <pc:spChg chg="mod">
          <ac:chgData name="Jay Khatri" userId="ef5ecfc1d5af120f" providerId="LiveId" clId="{11488113-00F5-4282-B637-1B35CCE13281}" dt="2026-08-01T19:02:58.572" v="116" actId="27636"/>
          <ac:spMkLst>
            <pc:docMk/>
            <pc:sldMk cId="3164907711" sldId="268"/>
            <ac:spMk id="2" creationId="{37EAEF6D-1100-AD1F-8CB3-2CFAEC68F416}"/>
          </ac:spMkLst>
        </pc:spChg>
        <pc:spChg chg="mod">
          <ac:chgData name="Jay Khatri" userId="ef5ecfc1d5af120f" providerId="LiveId" clId="{11488113-00F5-4282-B637-1B35CCE13281}" dt="2026-08-01T19:06:45.783" v="127" actId="255"/>
          <ac:spMkLst>
            <pc:docMk/>
            <pc:sldMk cId="3164907711" sldId="268"/>
            <ac:spMk id="3" creationId="{7BABF39D-CF23-D7D6-D2CD-72F57F4266B5}"/>
          </ac:spMkLst>
        </pc:spChg>
        <pc:picChg chg="add mod">
          <ac:chgData name="Jay Khatri" userId="ef5ecfc1d5af120f" providerId="LiveId" clId="{11488113-00F5-4282-B637-1B35CCE13281}" dt="2026-08-01T19:06:50.737" v="128" actId="1076"/>
          <ac:picMkLst>
            <pc:docMk/>
            <pc:sldMk cId="3164907711" sldId="268"/>
            <ac:picMk id="5" creationId="{C8E9C71D-C6C6-CDC1-A53F-1821EF39181D}"/>
          </ac:picMkLst>
        </pc:picChg>
      </pc:sldChg>
      <pc:sldChg chg="modSp new mod modNotesTx">
        <pc:chgData name="Jay Khatri" userId="ef5ecfc1d5af120f" providerId="LiveId" clId="{11488113-00F5-4282-B637-1B35CCE13281}" dt="2026-08-01T19:11:47.155" v="342" actId="20577"/>
        <pc:sldMkLst>
          <pc:docMk/>
          <pc:sldMk cId="1050530193" sldId="269"/>
        </pc:sldMkLst>
        <pc:spChg chg="mod">
          <ac:chgData name="Jay Khatri" userId="ef5ecfc1d5af120f" providerId="LiveId" clId="{11488113-00F5-4282-B637-1B35CCE13281}" dt="2026-08-01T19:10:08.941" v="133" actId="113"/>
          <ac:spMkLst>
            <pc:docMk/>
            <pc:sldMk cId="1050530193" sldId="269"/>
            <ac:spMk id="2" creationId="{093316A8-8672-A612-CA2A-FDBE8EE67F73}"/>
          </ac:spMkLst>
        </pc:spChg>
        <pc:spChg chg="mod">
          <ac:chgData name="Jay Khatri" userId="ef5ecfc1d5af120f" providerId="LiveId" clId="{11488113-00F5-4282-B637-1B35CCE13281}" dt="2026-08-01T19:10:27.937" v="135" actId="255"/>
          <ac:spMkLst>
            <pc:docMk/>
            <pc:sldMk cId="1050530193" sldId="269"/>
            <ac:spMk id="3" creationId="{6FACE4A6-BCE6-4E3B-76E4-92EADDAC9FE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8/1/2026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Jay Khatri, and this presentation summarizes my capstone project for MIS581. My project focuses on using business intelligence and data analytics to examine lifestyle and health related factors associated with diabetes and prediabetes risk. The goal of this project is not to diagnose individual patients, but to identify broad risk patterns that could help healthcare organizations improve prevention planning, outreach, and decision making.</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Diabetes and prediabetes are major healthcare concerns because they affect patient outcomes, long term quality of life, and organizational costs. Diabetes occurs when the body cannot properly regulate blood glucose, either because it does not produce enough insulin or cannot use insulin effectively. Over time, uncontrolled diabetes can contribute to complications such as heart disease, kidney disease, vision loss, and other serious health problems.</a:t>
            </a:r>
          </a:p>
          <a:p>
            <a:r>
              <a:rPr lang="en-US" dirty="0"/>
              <a:t>From a business intelligence perspective, this makes diabetes an important area for prevention planning. If healthcare organizations can identify broad risk patterns earlier, they may be able to improve screening reminders, patient outreach, education, and resource allocation. This project focuses on using the CDC Diabetes Health Indicators dataset to examine lifestyle and health related variables connected to diabetes and prediabetes risk.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Sources: CDC, 2025; Parker et al., 2024</a:t>
            </a:r>
            <a:endParaRPr lang="en-US" dirty="0"/>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91329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used the CDC Diabetes Health Indicators dataset from the UCI Machine Learning Repository. The dataset includes 253,680 records and 22 variables. The main target variable is </a:t>
            </a:r>
            <a:r>
              <a:rPr lang="en-US" dirty="0" err="1"/>
              <a:t>Diabetes_binary</a:t>
            </a:r>
            <a:r>
              <a:rPr lang="en-US" dirty="0"/>
              <a:t>, where 0 represents individuals without diabetes and 1 represents individuals with diabetes or prediabetes. I focused on variables that were most connected to my research questions, including BMI, high blood pressure, high cholesterol, physical activity, smoking, and general health. This dataset was a good fit because it includes both health related and lifestyle related indicators, which allowed me to examine diabetes and prediabetes risk patterns from multiple angles.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Source: UCI Machine Learning Repository, 2023</a:t>
            </a:r>
            <a:endParaRPr lang="en-US" dirty="0"/>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332089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research question for this project was to identify which lifestyle and health related factors are associated with diabetes or prediabetes status. I focused on BMI, high blood pressure, high cholesterol, physical activity, smoking, and general health. For the hypotheses, the null hypothesis generally stated that there was no significant difference or association between each factor and diabetes or prediabetes status. The alternative hypotheses stated that these factors were significantly associated with diabetes or prediabetes status. I also tested whether a model using these selected variables could help classify diabetes or prediabetes risk.</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01362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followed a step by step analysis process. I first prepared the data in Python using Jupyter Notebook and pandas. This included loading the dataset, reviewing the number of records and variables, checking for missing values, and making sure the coded variables were understood correctly.</a:t>
            </a:r>
          </a:p>
          <a:p>
            <a:r>
              <a:rPr lang="en-US" dirty="0"/>
              <a:t>After preparing the data, I used descriptive statistics to compare the no-diabetes group with the diabetes/prediabetes group. Then, I used hypothesis testing to determine whether the differences between groups were statistically meaningful. Welch’s t-test was used for BMI, while chi-square tests were used for categorical variables like high blood pressure, high cholesterol, physical activity, and smoking.</a:t>
            </a:r>
          </a:p>
          <a:p>
            <a:r>
              <a:rPr lang="en-US" dirty="0"/>
              <a:t>Finally, I used logistic regression to evaluate whether selected lifestyle and health related variables could help classify diabetes or prediabetes status. The results from these steps were then used to develop recommendations for healthcare dashboards, patient outreach, and prevention planning.</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0637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descriptive findings from the dataset. The blue bars represent individuals without diabetes, and the orange bars represent individuals with diabetes or prediabetes. The diabetes/prediabetes group had a higher average BMI, at 31.94 compared to 27.81. They also had much higher rates of high blood pressure and high cholesterol. High blood pressure was 75.27% in the diabetes/prediabetes group compared to 37.66% in the no-diabetes group, and high cholesterol was 67.01% compared to 38.43%.</a:t>
            </a:r>
          </a:p>
          <a:p>
            <a:r>
              <a:rPr lang="en-US" dirty="0"/>
              <a:t>Physical activity showed the opposite pattern. The no-diabetes group had a higher physical activity rate at 77.69%, while the diabetes/prediabetes group was lower at 63.05%. Overall, this chart shows that diabetes and prediabetes risk is connected to multiple health and lifestyle factors, not just one single variable.</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265736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hypothesis test results. For BMI, I used Welch’s t-test because BMI is a numeric variable. For high blood pressure, high cholesterol, physical activity, and smoking, I used chi-square tests because those variables are categorical.</a:t>
            </a:r>
          </a:p>
          <a:p>
            <a:r>
              <a:rPr lang="en-US" dirty="0"/>
              <a:t>All of the results had p-values less than .001. A p-value less than .001 means the results were statistically significant and very unlikely to be due to random chance. In simple terms, there is less than a 0.1% probability of seeing results this strong if the null hypothesis were actually true.</a:t>
            </a:r>
          </a:p>
          <a:p>
            <a:r>
              <a:rPr lang="en-US" dirty="0"/>
              <a:t>Because of this, I rejected the null hypotheses for BMI, high blood pressure, high cholesterol, physical activity, and smoking. This supports the idea that these lifestyle and health related indicators are meaningfully associated with diabetes or prediabetes status in the dataset.</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836461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logistic regression model results. The model had an accuracy of 72%, meaning it correctly classified many cases overall. The ROC-AUC (R-O-C A-U-C) score, was 0.8026, or about 80.26%. ROC-AUC measures how well the model separates the two groups, so this result suggests the model had reasonable ability to distinguish between diabetes/prediabetes cases and no-diabetes cases.</a:t>
            </a:r>
          </a:p>
          <a:p>
            <a:r>
              <a:rPr lang="en-US" dirty="0"/>
              <a:t>The recall for the diabetes/prediabetes group was 74%, meaning the model identified many actual diabetes or prediabetes cases. This could be useful for screening support and prevention planning because healthcare organizations may want to identify people who may need follow-up. However, precision was only 30%, which means many people flagged by the model may not actually have diabetes or prediabetes. Because of this, the model should not be used as a diagnosis tool. It is better used as a business intelligence support tool for outreach, screening reminders, and prevention planning.</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543546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how the findings could be used in a healthcare organization. One practical recommendation is to use business intelligence dashboards to monitor diabetes related risk patterns across patient populations. For example, an organization could track groups with higher BMI, high blood pressure, high cholesterol, and lower physical activity.</a:t>
            </a:r>
          </a:p>
          <a:p>
            <a:r>
              <a:rPr lang="en-US" dirty="0"/>
              <a:t>These insights could support targeted outreach, such as screening reminders, primary care follow ups, wellness resources, and patient education. The logistic regression model could also help identify groups that may need additional attention, but it should not be used as a diagnostic tool. Since the model had low precision, clinical staff should review results before any patient care decisions are made.</a:t>
            </a:r>
          </a:p>
          <a:p>
            <a:r>
              <a:rPr lang="en-US" dirty="0"/>
              <a:t>For future improvement, organizations should collect more detailed data, such as lab results, family history, medication use, diet, and exact physical activity levels. Adding those variables could make future models more accurate and more useful for prevention planning.</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675290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main sources used to support the project. The CDC and UCI sources supported the dataset background, while the scholarly articles helped connect the project findings to existing diabetes research. The HHS source was used to support the privacy and ethical considerations related to health data. Overall, these sources helped guide the project from the research background to the analysis and final recommendations.</a:t>
            </a:r>
          </a:p>
          <a:p>
            <a:r>
              <a:rPr lang="en-US" dirty="0"/>
              <a:t>Thank you, I appreciate everyone taking the time to listen and enjoy this presentation. Special thanks to Dr. Justin B. for being a great professor and giving valuable guidance.</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40963445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8/1/2026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8/1/2026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8/1/2026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8/1/2026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8/1/2026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8/1/2026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8/1/2026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8/1/2026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a:t>Click to edit Master title style</a:t>
            </a:r>
            <a:endParaRPr lang="en-US" dirty="0"/>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8/1/2026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8/1/2026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a:t>Click to edit Master title style</a:t>
            </a:r>
            <a:endParaRPr lang="en-US" dirty="0"/>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8/1/2026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8/1/2026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8/1/2026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8/1/2026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a:t>Click to edit Master title style</a:t>
            </a:r>
            <a:endParaRPr lang="en-US" dirty="0"/>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8/1/2026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a:t>Click to edit Master title style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8/1/2026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a:t>Click to edit Master title style</a:t>
            </a:r>
            <a:endParaRPr lang="en-US" dirty="0"/>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8/1/2026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8/1/2026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8/1/2026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a:t>Click to edit Master title style</a:t>
            </a:r>
            <a:endParaRPr lang="en-US" dirty="0"/>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8/1/2026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8/1/2026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8/1/2026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8/1/2026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8/1/2026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8/1/2026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8/1/2026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8/1/2026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8/1/2026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8/1/2026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8/1/2026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8/1/2026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8/1/2026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8/1/2026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8/1/2026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8/1/2026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8/1/2026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8/1/2026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8/1/2026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8/1/2026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8/1/2026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hhs.gov/hipaa/for-professionals/privacy/index.html" TargetMode="External"/><Relationship Id="rId3" Type="http://schemas.openxmlformats.org/officeDocument/2006/relationships/hyperlink" Target="https://doi.org/10.1007/s10654-015-0056-z" TargetMode="External"/><Relationship Id="rId7" Type="http://schemas.openxmlformats.org/officeDocument/2006/relationships/hyperlink" Target="https://archive.ics.uci.edu/dataset/891/cdc+diabetes+health+indicator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oi.org/10.1038/s41598-024-52023-5" TargetMode="External"/><Relationship Id="rId5" Type="http://schemas.openxmlformats.org/officeDocument/2006/relationships/hyperlink" Target="https://doi.org/10.2337/dci23-0085" TargetMode="External"/><Relationship Id="rId4" Type="http://schemas.openxmlformats.org/officeDocument/2006/relationships/hyperlink" Target="https://www.cdc.gov/brfss/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p:txBody>
          <a:bodyPr>
            <a:normAutofit fontScale="90000"/>
          </a:bodyPr>
          <a:lstStyle/>
          <a:p>
            <a:r>
              <a:rPr lang="en-US" dirty="0"/>
              <a:t>Using Business Intelligence to Analyze Diabetes Risk Patterns</a:t>
            </a:r>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457200" y="457200"/>
            <a:ext cx="4152900" cy="1597027"/>
          </a:xfrm>
        </p:spPr>
        <p:txBody>
          <a:bodyPr anchor="t">
            <a:normAutofit fontScale="85000" lnSpcReduction="20000"/>
          </a:bodyPr>
          <a:lstStyle/>
          <a:p>
            <a:r>
              <a:rPr lang="en-US" dirty="0"/>
              <a:t>Jay Khatri</a:t>
            </a:r>
          </a:p>
          <a:p>
            <a:r>
              <a:rPr lang="en-US" dirty="0"/>
              <a:t>M.S. Data Analytics, CSU Global</a:t>
            </a:r>
          </a:p>
          <a:p>
            <a:r>
              <a:rPr lang="en-US" dirty="0"/>
              <a:t>ISM581: Capstone - Business Intelligence and Data Analytics</a:t>
            </a:r>
          </a:p>
          <a:p>
            <a:r>
              <a:rPr lang="en-US" dirty="0"/>
              <a:t>Dr. Justin Bateh</a:t>
            </a:r>
          </a:p>
          <a:p>
            <a:r>
              <a:rPr lang="en-US" dirty="0"/>
              <a:t>Module 8: Portfolio Project – Presentation</a:t>
            </a:r>
            <a:br>
              <a:rPr lang="en-US" dirty="0"/>
            </a:br>
            <a:endParaRPr lang="en-US" dirty="0"/>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9DF94-5FA2-987C-E067-B50B449BB0B3}"/>
              </a:ext>
            </a:extLst>
          </p:cNvPr>
          <p:cNvSpPr>
            <a:spLocks noGrp="1"/>
          </p:cNvSpPr>
          <p:nvPr>
            <p:ph type="title"/>
          </p:nvPr>
        </p:nvSpPr>
        <p:spPr/>
        <p:txBody>
          <a:bodyPr>
            <a:normAutofit/>
          </a:bodyPr>
          <a:lstStyle/>
          <a:p>
            <a:r>
              <a:rPr lang="en-US" b="1" dirty="0"/>
              <a:t>Project Purpose and Business Problem</a:t>
            </a:r>
            <a:endParaRPr lang="en-US" dirty="0"/>
          </a:p>
        </p:txBody>
      </p:sp>
      <p:sp>
        <p:nvSpPr>
          <p:cNvPr id="3" name="Content Placeholder 2">
            <a:extLst>
              <a:ext uri="{FF2B5EF4-FFF2-40B4-BE49-F238E27FC236}">
                <a16:creationId xmlns:a16="http://schemas.microsoft.com/office/drawing/2014/main" id="{E25B641E-277F-721E-873C-302B8022A15B}"/>
              </a:ext>
            </a:extLst>
          </p:cNvPr>
          <p:cNvSpPr>
            <a:spLocks noGrp="1"/>
          </p:cNvSpPr>
          <p:nvPr>
            <p:ph idx="1"/>
          </p:nvPr>
        </p:nvSpPr>
        <p:spPr/>
        <p:txBody>
          <a:bodyPr/>
          <a:lstStyle/>
          <a:p>
            <a:pPr lvl="0"/>
            <a:r>
              <a:rPr lang="en-US" sz="2800" dirty="0"/>
              <a:t>-Diabetes and prediabetes create major health and cost challenges for healthcare organizations </a:t>
            </a:r>
          </a:p>
          <a:p>
            <a:pPr lvl="0"/>
            <a:r>
              <a:rPr lang="en-US" sz="2800" dirty="0"/>
              <a:t>-Goal: identify lifestyle and health related patterns connected to diabetes/prediabetes risk </a:t>
            </a:r>
          </a:p>
          <a:p>
            <a:pPr lvl="0"/>
            <a:r>
              <a:rPr lang="en-US" sz="2800" dirty="0"/>
              <a:t>-Business intelligence can support prevention planning, outreach, and resource allocation</a:t>
            </a:r>
          </a:p>
          <a:p>
            <a:endParaRPr lang="en-US" dirty="0"/>
          </a:p>
        </p:txBody>
      </p:sp>
    </p:spTree>
    <p:extLst>
      <p:ext uri="{BB962C8B-B14F-4D97-AF65-F5344CB8AC3E}">
        <p14:creationId xmlns:p14="http://schemas.microsoft.com/office/powerpoint/2010/main" val="249330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D54AB-2371-22F1-A158-16C152636D6F}"/>
              </a:ext>
            </a:extLst>
          </p:cNvPr>
          <p:cNvSpPr>
            <a:spLocks noGrp="1"/>
          </p:cNvSpPr>
          <p:nvPr>
            <p:ph type="title"/>
          </p:nvPr>
        </p:nvSpPr>
        <p:spPr/>
        <p:txBody>
          <a:bodyPr>
            <a:normAutofit/>
          </a:bodyPr>
          <a:lstStyle/>
          <a:p>
            <a:r>
              <a:rPr lang="en-US" sz="4800" b="1" dirty="0"/>
              <a:t>Dataset Overview</a:t>
            </a:r>
            <a:endParaRPr lang="en-US" sz="4800" dirty="0"/>
          </a:p>
        </p:txBody>
      </p:sp>
      <p:sp>
        <p:nvSpPr>
          <p:cNvPr id="3" name="Content Placeholder 2">
            <a:extLst>
              <a:ext uri="{FF2B5EF4-FFF2-40B4-BE49-F238E27FC236}">
                <a16:creationId xmlns:a16="http://schemas.microsoft.com/office/drawing/2014/main" id="{BEB81A1A-E100-0216-564E-822DC62C97B8}"/>
              </a:ext>
            </a:extLst>
          </p:cNvPr>
          <p:cNvSpPr>
            <a:spLocks noGrp="1"/>
          </p:cNvSpPr>
          <p:nvPr>
            <p:ph idx="1"/>
          </p:nvPr>
        </p:nvSpPr>
        <p:spPr/>
        <p:txBody>
          <a:bodyPr>
            <a:normAutofit/>
          </a:bodyPr>
          <a:lstStyle/>
          <a:p>
            <a:pPr lvl="0"/>
            <a:r>
              <a:rPr lang="en-US" sz="2400" dirty="0"/>
              <a:t>-Dataset: CDC Diabetes Health Indicators </a:t>
            </a:r>
          </a:p>
          <a:p>
            <a:pPr lvl="0"/>
            <a:r>
              <a:rPr lang="en-US" sz="2400" dirty="0"/>
              <a:t>-253,680 records and 22 variables </a:t>
            </a:r>
          </a:p>
          <a:p>
            <a:pPr lvl="0"/>
            <a:r>
              <a:rPr lang="en-US" sz="2400" dirty="0"/>
              <a:t>-Target variable: </a:t>
            </a:r>
            <a:r>
              <a:rPr lang="en-US" sz="2400" dirty="0" err="1"/>
              <a:t>Diabetes_binary</a:t>
            </a:r>
            <a:r>
              <a:rPr lang="en-US" sz="2400" dirty="0"/>
              <a:t> </a:t>
            </a:r>
          </a:p>
          <a:p>
            <a:pPr lvl="0"/>
            <a:r>
              <a:rPr lang="en-US" sz="2400" dirty="0"/>
              <a:t>-Key variables: BMI, high blood pressure, high cholesterol, physical activity, smoking, general health</a:t>
            </a:r>
          </a:p>
        </p:txBody>
      </p:sp>
    </p:spTree>
    <p:extLst>
      <p:ext uri="{BB962C8B-B14F-4D97-AF65-F5344CB8AC3E}">
        <p14:creationId xmlns:p14="http://schemas.microsoft.com/office/powerpoint/2010/main" val="2203556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BEA5-C3A8-07F0-65BA-AF4FD39135CE}"/>
              </a:ext>
            </a:extLst>
          </p:cNvPr>
          <p:cNvSpPr>
            <a:spLocks noGrp="1"/>
          </p:cNvSpPr>
          <p:nvPr>
            <p:ph type="title"/>
          </p:nvPr>
        </p:nvSpPr>
        <p:spPr/>
        <p:txBody>
          <a:bodyPr>
            <a:normAutofit/>
          </a:bodyPr>
          <a:lstStyle/>
          <a:p>
            <a:r>
              <a:rPr lang="en-US" b="1" dirty="0"/>
              <a:t>Research Questions and Hypotheses</a:t>
            </a:r>
            <a:endParaRPr lang="en-US" dirty="0"/>
          </a:p>
        </p:txBody>
      </p:sp>
      <p:sp>
        <p:nvSpPr>
          <p:cNvPr id="3" name="Content Placeholder 2">
            <a:extLst>
              <a:ext uri="{FF2B5EF4-FFF2-40B4-BE49-F238E27FC236}">
                <a16:creationId xmlns:a16="http://schemas.microsoft.com/office/drawing/2014/main" id="{E3C3D887-7B31-DF01-07BC-06AD2F01B7F1}"/>
              </a:ext>
            </a:extLst>
          </p:cNvPr>
          <p:cNvSpPr>
            <a:spLocks noGrp="1"/>
          </p:cNvSpPr>
          <p:nvPr>
            <p:ph idx="1"/>
          </p:nvPr>
        </p:nvSpPr>
        <p:spPr/>
        <p:txBody>
          <a:bodyPr>
            <a:normAutofit/>
          </a:bodyPr>
          <a:lstStyle/>
          <a:p>
            <a:pPr lvl="0"/>
            <a:r>
              <a:rPr lang="en-US" sz="2400" dirty="0"/>
              <a:t>-Are BMI, high blood pressure, and high cholesterol associated with diabetes/prediabetes status? </a:t>
            </a:r>
          </a:p>
          <a:p>
            <a:pPr lvl="0"/>
            <a:r>
              <a:rPr lang="en-US" sz="2400" dirty="0"/>
              <a:t>-Is physical activity associated with diabetes/prediabetes status? </a:t>
            </a:r>
          </a:p>
          <a:p>
            <a:pPr lvl="0"/>
            <a:r>
              <a:rPr lang="en-US" sz="2400" dirty="0"/>
              <a:t>-Can selected health and lifestyle variables help classify diabetes/prediabetes risk? </a:t>
            </a:r>
          </a:p>
          <a:p>
            <a:pPr lvl="0"/>
            <a:r>
              <a:rPr lang="en-US" sz="2400" dirty="0"/>
              <a:t>-Null hypotheses tested whether no significant differences or associations existed</a:t>
            </a:r>
          </a:p>
        </p:txBody>
      </p:sp>
    </p:spTree>
    <p:extLst>
      <p:ext uri="{BB962C8B-B14F-4D97-AF65-F5344CB8AC3E}">
        <p14:creationId xmlns:p14="http://schemas.microsoft.com/office/powerpoint/2010/main" val="1722467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1322-58FC-8DCD-C0C3-8CE9A9B47892}"/>
              </a:ext>
            </a:extLst>
          </p:cNvPr>
          <p:cNvSpPr>
            <a:spLocks noGrp="1"/>
          </p:cNvSpPr>
          <p:nvPr>
            <p:ph type="title"/>
          </p:nvPr>
        </p:nvSpPr>
        <p:spPr/>
        <p:txBody>
          <a:bodyPr>
            <a:normAutofit/>
          </a:bodyPr>
          <a:lstStyle/>
          <a:p>
            <a:r>
              <a:rPr lang="en-US" b="1" dirty="0"/>
              <a:t>Methods and Tools</a:t>
            </a:r>
            <a:endParaRPr lang="en-US" dirty="0"/>
          </a:p>
        </p:txBody>
      </p:sp>
      <p:sp>
        <p:nvSpPr>
          <p:cNvPr id="3" name="Content Placeholder 2">
            <a:extLst>
              <a:ext uri="{FF2B5EF4-FFF2-40B4-BE49-F238E27FC236}">
                <a16:creationId xmlns:a16="http://schemas.microsoft.com/office/drawing/2014/main" id="{7ADC99EB-26E2-3C96-551D-298FF6D66DAA}"/>
              </a:ext>
            </a:extLst>
          </p:cNvPr>
          <p:cNvSpPr>
            <a:spLocks noGrp="1"/>
          </p:cNvSpPr>
          <p:nvPr>
            <p:ph idx="1"/>
          </p:nvPr>
        </p:nvSpPr>
        <p:spPr/>
        <p:txBody>
          <a:bodyPr>
            <a:normAutofit/>
          </a:bodyPr>
          <a:lstStyle/>
          <a:p>
            <a:pPr lvl="0"/>
            <a:r>
              <a:rPr lang="en-US" sz="2400" dirty="0"/>
              <a:t>-Tools: Python, Jupyter Notebook, pandas, matplotlib, scikit-learn </a:t>
            </a:r>
          </a:p>
          <a:p>
            <a:pPr lvl="0"/>
            <a:r>
              <a:rPr lang="en-US" sz="2400" dirty="0"/>
              <a:t>-Descriptive statistics compared diabetes/prediabetes vs. no-diabetes groups </a:t>
            </a:r>
          </a:p>
          <a:p>
            <a:pPr lvl="0"/>
            <a:r>
              <a:rPr lang="en-US" sz="2400" dirty="0"/>
              <a:t>-Welch’s t-test tested BMI differences </a:t>
            </a:r>
          </a:p>
          <a:p>
            <a:pPr lvl="0"/>
            <a:r>
              <a:rPr lang="en-US" sz="2400" dirty="0"/>
              <a:t>-Chi-square tests tested categorical variables </a:t>
            </a:r>
          </a:p>
          <a:p>
            <a:pPr lvl="0"/>
            <a:r>
              <a:rPr lang="en-US" sz="2400" dirty="0"/>
              <a:t>-Logistic regression evaluated classification ability</a:t>
            </a:r>
          </a:p>
        </p:txBody>
      </p:sp>
      <p:pic>
        <p:nvPicPr>
          <p:cNvPr id="5" name="Picture 4">
            <a:extLst>
              <a:ext uri="{FF2B5EF4-FFF2-40B4-BE49-F238E27FC236}">
                <a16:creationId xmlns:a16="http://schemas.microsoft.com/office/drawing/2014/main" id="{E1A5E76E-5CD1-49CF-3757-69EEE81A608C}"/>
              </a:ext>
            </a:extLst>
          </p:cNvPr>
          <p:cNvPicPr>
            <a:picLocks noChangeAspect="1"/>
          </p:cNvPicPr>
          <p:nvPr/>
        </p:nvPicPr>
        <p:blipFill>
          <a:blip r:embed="rId3"/>
          <a:stretch>
            <a:fillRect/>
          </a:stretch>
        </p:blipFill>
        <p:spPr>
          <a:xfrm>
            <a:off x="703118" y="2535382"/>
            <a:ext cx="10287000" cy="6858000"/>
          </a:xfrm>
          <a:prstGeom prst="rect">
            <a:avLst/>
          </a:prstGeom>
        </p:spPr>
      </p:pic>
    </p:spTree>
    <p:extLst>
      <p:ext uri="{BB962C8B-B14F-4D97-AF65-F5344CB8AC3E}">
        <p14:creationId xmlns:p14="http://schemas.microsoft.com/office/powerpoint/2010/main" val="2073057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673D-AB3D-69FF-2EE2-3C0020EA54C9}"/>
              </a:ext>
            </a:extLst>
          </p:cNvPr>
          <p:cNvSpPr>
            <a:spLocks noGrp="1"/>
          </p:cNvSpPr>
          <p:nvPr>
            <p:ph type="title"/>
          </p:nvPr>
        </p:nvSpPr>
        <p:spPr/>
        <p:txBody>
          <a:bodyPr>
            <a:normAutofit/>
          </a:bodyPr>
          <a:lstStyle/>
          <a:p>
            <a:r>
              <a:rPr lang="en-US" b="1" dirty="0"/>
              <a:t>Key Descriptive Findings</a:t>
            </a:r>
            <a:endParaRPr lang="en-US" dirty="0"/>
          </a:p>
        </p:txBody>
      </p:sp>
      <p:sp>
        <p:nvSpPr>
          <p:cNvPr id="3" name="Content Placeholder 2">
            <a:extLst>
              <a:ext uri="{FF2B5EF4-FFF2-40B4-BE49-F238E27FC236}">
                <a16:creationId xmlns:a16="http://schemas.microsoft.com/office/drawing/2014/main" id="{015BE275-7D01-7B00-64E5-B6650BCCEB74}"/>
              </a:ext>
            </a:extLst>
          </p:cNvPr>
          <p:cNvSpPr>
            <a:spLocks noGrp="1"/>
          </p:cNvSpPr>
          <p:nvPr>
            <p:ph idx="1"/>
          </p:nvPr>
        </p:nvSpPr>
        <p:spPr>
          <a:xfrm>
            <a:off x="457199" y="1065823"/>
            <a:ext cx="11277599" cy="4539072"/>
          </a:xfrm>
        </p:spPr>
        <p:txBody>
          <a:bodyPr/>
          <a:lstStyle/>
          <a:p>
            <a:pPr lvl="0"/>
            <a:r>
              <a:rPr lang="en-US" sz="2000" dirty="0"/>
              <a:t>Higher average BMI: </a:t>
            </a:r>
            <a:r>
              <a:rPr lang="en-US" sz="2000" b="1" dirty="0"/>
              <a:t>31.94 vs. 27.81</a:t>
            </a:r>
            <a:r>
              <a:rPr lang="en-US" sz="2000" dirty="0"/>
              <a:t> </a:t>
            </a:r>
          </a:p>
          <a:p>
            <a:pPr lvl="0"/>
            <a:r>
              <a:rPr lang="en-US" sz="2000" dirty="0"/>
              <a:t>Higher high blood pressure rate: </a:t>
            </a:r>
            <a:r>
              <a:rPr lang="en-US" sz="2000" b="1" dirty="0"/>
              <a:t>75.27% vs. 37.66%</a:t>
            </a:r>
            <a:r>
              <a:rPr lang="en-US" sz="2000" dirty="0"/>
              <a:t> </a:t>
            </a:r>
          </a:p>
          <a:p>
            <a:pPr lvl="0"/>
            <a:r>
              <a:rPr lang="en-US" sz="2000" dirty="0"/>
              <a:t>Higher high cholesterol rate: </a:t>
            </a:r>
            <a:r>
              <a:rPr lang="en-US" sz="2000" b="1" dirty="0"/>
              <a:t>67.01% vs. 38.43%</a:t>
            </a:r>
            <a:r>
              <a:rPr lang="en-US" sz="2000" dirty="0"/>
              <a:t> </a:t>
            </a:r>
          </a:p>
          <a:p>
            <a:pPr lvl="0"/>
            <a:r>
              <a:rPr lang="en-US" sz="2000" dirty="0"/>
              <a:t>Lower physical activity rate: </a:t>
            </a:r>
            <a:r>
              <a:rPr lang="en-US" sz="2000" b="1" dirty="0"/>
              <a:t>63.05% vs. 77.69%</a:t>
            </a:r>
            <a:endParaRPr lang="en-US" sz="2000" dirty="0"/>
          </a:p>
          <a:p>
            <a:endParaRPr lang="en-US" dirty="0"/>
          </a:p>
        </p:txBody>
      </p:sp>
      <p:pic>
        <p:nvPicPr>
          <p:cNvPr id="5" name="Picture 4">
            <a:extLst>
              <a:ext uri="{FF2B5EF4-FFF2-40B4-BE49-F238E27FC236}">
                <a16:creationId xmlns:a16="http://schemas.microsoft.com/office/drawing/2014/main" id="{C3E2D287-9D46-1E3A-D84B-B656D0BF94ED}"/>
              </a:ext>
            </a:extLst>
          </p:cNvPr>
          <p:cNvPicPr>
            <a:picLocks noChangeAspect="1"/>
          </p:cNvPicPr>
          <p:nvPr/>
        </p:nvPicPr>
        <p:blipFill>
          <a:blip r:embed="rId3"/>
          <a:stretch>
            <a:fillRect/>
          </a:stretch>
        </p:blipFill>
        <p:spPr>
          <a:xfrm>
            <a:off x="6095998" y="654642"/>
            <a:ext cx="6064197" cy="5953977"/>
          </a:xfrm>
          <a:prstGeom prst="rect">
            <a:avLst/>
          </a:prstGeom>
        </p:spPr>
      </p:pic>
      <p:pic>
        <p:nvPicPr>
          <p:cNvPr id="7" name="Picture 6">
            <a:extLst>
              <a:ext uri="{FF2B5EF4-FFF2-40B4-BE49-F238E27FC236}">
                <a16:creationId xmlns:a16="http://schemas.microsoft.com/office/drawing/2014/main" id="{3886E3DC-B907-9010-5AAC-A3D2434BBD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915311"/>
            <a:ext cx="6501279" cy="3693308"/>
          </a:xfrm>
          <a:prstGeom prst="rect">
            <a:avLst/>
          </a:prstGeom>
        </p:spPr>
      </p:pic>
    </p:spTree>
    <p:extLst>
      <p:ext uri="{BB962C8B-B14F-4D97-AF65-F5344CB8AC3E}">
        <p14:creationId xmlns:p14="http://schemas.microsoft.com/office/powerpoint/2010/main" val="110276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CB4B-592B-0618-EEB2-6FC603346866}"/>
              </a:ext>
            </a:extLst>
          </p:cNvPr>
          <p:cNvSpPr>
            <a:spLocks noGrp="1"/>
          </p:cNvSpPr>
          <p:nvPr>
            <p:ph type="title"/>
          </p:nvPr>
        </p:nvSpPr>
        <p:spPr/>
        <p:txBody>
          <a:bodyPr>
            <a:normAutofit/>
          </a:bodyPr>
          <a:lstStyle/>
          <a:p>
            <a:r>
              <a:rPr lang="en-US" b="1" dirty="0"/>
              <a:t>Hypothesis Test Results</a:t>
            </a:r>
            <a:endParaRPr lang="en-US" dirty="0"/>
          </a:p>
        </p:txBody>
      </p:sp>
      <p:sp>
        <p:nvSpPr>
          <p:cNvPr id="3" name="Content Placeholder 2">
            <a:extLst>
              <a:ext uri="{FF2B5EF4-FFF2-40B4-BE49-F238E27FC236}">
                <a16:creationId xmlns:a16="http://schemas.microsoft.com/office/drawing/2014/main" id="{3775187A-9325-A76B-0134-973E6ABA3941}"/>
              </a:ext>
            </a:extLst>
          </p:cNvPr>
          <p:cNvSpPr>
            <a:spLocks noGrp="1"/>
          </p:cNvSpPr>
          <p:nvPr>
            <p:ph idx="1"/>
          </p:nvPr>
        </p:nvSpPr>
        <p:spPr>
          <a:xfrm>
            <a:off x="277091" y="4253344"/>
            <a:ext cx="11457709" cy="2147455"/>
          </a:xfrm>
        </p:spPr>
        <p:txBody>
          <a:bodyPr/>
          <a:lstStyle/>
          <a:p>
            <a:r>
              <a:rPr lang="en-US" sz="2400" b="1" dirty="0"/>
              <a:t>Takeaway:</a:t>
            </a:r>
            <a:r>
              <a:rPr lang="en-US" sz="2400" dirty="0"/>
              <a:t> The null hypotheses were rejected for the main health and lifestyle indicators.</a:t>
            </a:r>
          </a:p>
          <a:p>
            <a:r>
              <a:rPr lang="en-US" sz="2400" dirty="0"/>
              <a:t>These results match the findings section where BMI, high blood pressure, high cholesterol, physical activity, and smoking were all statistically significant.</a:t>
            </a:r>
          </a:p>
          <a:p>
            <a:endParaRPr lang="en-US" dirty="0"/>
          </a:p>
        </p:txBody>
      </p:sp>
      <p:pic>
        <p:nvPicPr>
          <p:cNvPr id="5" name="Picture 4">
            <a:extLst>
              <a:ext uri="{FF2B5EF4-FFF2-40B4-BE49-F238E27FC236}">
                <a16:creationId xmlns:a16="http://schemas.microsoft.com/office/drawing/2014/main" id="{D282EB24-EDFC-5619-D416-63F3EB201270}"/>
              </a:ext>
            </a:extLst>
          </p:cNvPr>
          <p:cNvPicPr>
            <a:picLocks noChangeAspect="1"/>
          </p:cNvPicPr>
          <p:nvPr/>
        </p:nvPicPr>
        <p:blipFill>
          <a:blip r:embed="rId3"/>
          <a:stretch>
            <a:fillRect/>
          </a:stretch>
        </p:blipFill>
        <p:spPr>
          <a:xfrm>
            <a:off x="737438" y="1235260"/>
            <a:ext cx="10717121" cy="2896004"/>
          </a:xfrm>
          <a:prstGeom prst="rect">
            <a:avLst/>
          </a:prstGeom>
        </p:spPr>
      </p:pic>
    </p:spTree>
    <p:extLst>
      <p:ext uri="{BB962C8B-B14F-4D97-AF65-F5344CB8AC3E}">
        <p14:creationId xmlns:p14="http://schemas.microsoft.com/office/powerpoint/2010/main" val="2545724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B19F-4D87-A4AB-C49B-E4147E2CFE9F}"/>
              </a:ext>
            </a:extLst>
          </p:cNvPr>
          <p:cNvSpPr>
            <a:spLocks noGrp="1"/>
          </p:cNvSpPr>
          <p:nvPr>
            <p:ph type="title"/>
          </p:nvPr>
        </p:nvSpPr>
        <p:spPr/>
        <p:txBody>
          <a:bodyPr>
            <a:normAutofit/>
          </a:bodyPr>
          <a:lstStyle/>
          <a:p>
            <a:r>
              <a:rPr lang="en-US" b="1" dirty="0"/>
              <a:t>Logistic Regression Model Results</a:t>
            </a:r>
            <a:endParaRPr lang="en-US" dirty="0"/>
          </a:p>
        </p:txBody>
      </p:sp>
      <p:sp>
        <p:nvSpPr>
          <p:cNvPr id="3" name="Content Placeholder 2">
            <a:extLst>
              <a:ext uri="{FF2B5EF4-FFF2-40B4-BE49-F238E27FC236}">
                <a16:creationId xmlns:a16="http://schemas.microsoft.com/office/drawing/2014/main" id="{E287F950-E531-679D-2D83-D64C9EEA3C8F}"/>
              </a:ext>
            </a:extLst>
          </p:cNvPr>
          <p:cNvSpPr>
            <a:spLocks noGrp="1"/>
          </p:cNvSpPr>
          <p:nvPr>
            <p:ph idx="1"/>
          </p:nvPr>
        </p:nvSpPr>
        <p:spPr>
          <a:xfrm>
            <a:off x="457201" y="1861728"/>
            <a:ext cx="3574472" cy="4539072"/>
          </a:xfrm>
        </p:spPr>
        <p:txBody>
          <a:bodyPr>
            <a:normAutofit lnSpcReduction="10000"/>
          </a:bodyPr>
          <a:lstStyle/>
          <a:p>
            <a:pPr lvl="0"/>
            <a:r>
              <a:rPr lang="en-US" sz="2000" dirty="0"/>
              <a:t>-Model used BMI, high BP, high cholesterol, physical activity, smoking, and general health </a:t>
            </a:r>
          </a:p>
          <a:p>
            <a:pPr lvl="0"/>
            <a:r>
              <a:rPr lang="en-US" sz="2000" dirty="0"/>
              <a:t>-Overall accuracy: </a:t>
            </a:r>
            <a:r>
              <a:rPr lang="en-US" sz="2000" b="1" dirty="0"/>
              <a:t>72%</a:t>
            </a:r>
            <a:r>
              <a:rPr lang="en-US" sz="2000" dirty="0"/>
              <a:t> </a:t>
            </a:r>
          </a:p>
          <a:p>
            <a:pPr lvl="0"/>
            <a:r>
              <a:rPr lang="en-US" sz="2000" dirty="0"/>
              <a:t>-ROC-AUC: </a:t>
            </a:r>
            <a:r>
              <a:rPr lang="en-US" sz="2000" b="1" dirty="0"/>
              <a:t>0.8026</a:t>
            </a:r>
            <a:r>
              <a:rPr lang="en-US" sz="2000" dirty="0"/>
              <a:t> </a:t>
            </a:r>
          </a:p>
          <a:p>
            <a:pPr lvl="0"/>
            <a:r>
              <a:rPr lang="en-US" sz="2000" dirty="0"/>
              <a:t>-Recall for diabetes/prediabetes group: </a:t>
            </a:r>
            <a:r>
              <a:rPr lang="en-US" sz="2000" b="1" dirty="0"/>
              <a:t>0.74</a:t>
            </a:r>
            <a:r>
              <a:rPr lang="en-US" sz="2000" dirty="0"/>
              <a:t> </a:t>
            </a:r>
          </a:p>
          <a:p>
            <a:pPr lvl="0"/>
            <a:r>
              <a:rPr lang="en-US" sz="2000" dirty="0"/>
              <a:t>-Precision for diabetes/prediabetes group: </a:t>
            </a:r>
            <a:r>
              <a:rPr lang="en-US" sz="2000" b="1" dirty="0"/>
              <a:t>0.30</a:t>
            </a:r>
            <a:endParaRPr lang="en-US" sz="2000" dirty="0"/>
          </a:p>
          <a:p>
            <a:endParaRPr lang="en-US" dirty="0"/>
          </a:p>
        </p:txBody>
      </p:sp>
      <p:pic>
        <p:nvPicPr>
          <p:cNvPr id="7" name="Picture 6">
            <a:extLst>
              <a:ext uri="{FF2B5EF4-FFF2-40B4-BE49-F238E27FC236}">
                <a16:creationId xmlns:a16="http://schemas.microsoft.com/office/drawing/2014/main" id="{ED34116A-1E9A-6FB1-647D-FC17272C828E}"/>
              </a:ext>
            </a:extLst>
          </p:cNvPr>
          <p:cNvPicPr>
            <a:picLocks noChangeAspect="1"/>
          </p:cNvPicPr>
          <p:nvPr/>
        </p:nvPicPr>
        <p:blipFill>
          <a:blip r:embed="rId3"/>
          <a:stretch>
            <a:fillRect/>
          </a:stretch>
        </p:blipFill>
        <p:spPr>
          <a:xfrm>
            <a:off x="4031673" y="1861728"/>
            <a:ext cx="7869382" cy="3953129"/>
          </a:xfrm>
          <a:prstGeom prst="rect">
            <a:avLst/>
          </a:prstGeom>
        </p:spPr>
      </p:pic>
    </p:spTree>
    <p:extLst>
      <p:ext uri="{BB962C8B-B14F-4D97-AF65-F5344CB8AC3E}">
        <p14:creationId xmlns:p14="http://schemas.microsoft.com/office/powerpoint/2010/main" val="2976007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EF6D-1100-AD1F-8CB3-2CFAEC68F416}"/>
              </a:ext>
            </a:extLst>
          </p:cNvPr>
          <p:cNvSpPr>
            <a:spLocks noGrp="1"/>
          </p:cNvSpPr>
          <p:nvPr>
            <p:ph type="title"/>
          </p:nvPr>
        </p:nvSpPr>
        <p:spPr/>
        <p:txBody>
          <a:bodyPr>
            <a:normAutofit/>
          </a:bodyPr>
          <a:lstStyle/>
          <a:p>
            <a:r>
              <a:rPr lang="en-US" b="1" dirty="0"/>
              <a:t>Organizational Application and Recommendations</a:t>
            </a:r>
            <a:endParaRPr lang="en-US" dirty="0"/>
          </a:p>
        </p:txBody>
      </p:sp>
      <p:sp>
        <p:nvSpPr>
          <p:cNvPr id="3" name="Content Placeholder 2">
            <a:extLst>
              <a:ext uri="{FF2B5EF4-FFF2-40B4-BE49-F238E27FC236}">
                <a16:creationId xmlns:a16="http://schemas.microsoft.com/office/drawing/2014/main" id="{7BABF39D-CF23-D7D6-D2CD-72F57F4266B5}"/>
              </a:ext>
            </a:extLst>
          </p:cNvPr>
          <p:cNvSpPr>
            <a:spLocks noGrp="1"/>
          </p:cNvSpPr>
          <p:nvPr>
            <p:ph idx="1"/>
          </p:nvPr>
        </p:nvSpPr>
        <p:spPr>
          <a:xfrm>
            <a:off x="457199" y="1452415"/>
            <a:ext cx="11277599" cy="4539072"/>
          </a:xfrm>
        </p:spPr>
        <p:txBody>
          <a:bodyPr/>
          <a:lstStyle/>
          <a:p>
            <a:pPr lvl="0"/>
            <a:r>
              <a:rPr lang="en-US" sz="2000" dirty="0"/>
              <a:t>-Use BI dashboards to monitor diabetes-related risk patterns </a:t>
            </a:r>
          </a:p>
          <a:p>
            <a:pPr lvl="0"/>
            <a:r>
              <a:rPr lang="en-US" sz="2000" dirty="0"/>
              <a:t>-Target outreach to groups with high BP, high cholesterol, higher BMI, and low physical activity </a:t>
            </a:r>
          </a:p>
          <a:p>
            <a:pPr lvl="0"/>
            <a:r>
              <a:rPr lang="en-US" sz="2000" dirty="0"/>
              <a:t>-Use the model for screening support, not diagnosis </a:t>
            </a:r>
          </a:p>
          <a:p>
            <a:pPr lvl="0"/>
            <a:r>
              <a:rPr lang="en-US" sz="2000" dirty="0"/>
              <a:t>-Improve future data with lab results, family history, medication use, and detailed lifestyle data</a:t>
            </a:r>
          </a:p>
          <a:p>
            <a:endParaRPr lang="en-US" dirty="0"/>
          </a:p>
        </p:txBody>
      </p:sp>
      <p:pic>
        <p:nvPicPr>
          <p:cNvPr id="5" name="Picture 4">
            <a:extLst>
              <a:ext uri="{FF2B5EF4-FFF2-40B4-BE49-F238E27FC236}">
                <a16:creationId xmlns:a16="http://schemas.microsoft.com/office/drawing/2014/main" id="{C8E9C71D-C6C6-CDC1-A53F-1821EF39181D}"/>
              </a:ext>
            </a:extLst>
          </p:cNvPr>
          <p:cNvPicPr>
            <a:picLocks noChangeAspect="1"/>
          </p:cNvPicPr>
          <p:nvPr/>
        </p:nvPicPr>
        <p:blipFill>
          <a:blip r:embed="rId3"/>
          <a:stretch>
            <a:fillRect/>
          </a:stretch>
        </p:blipFill>
        <p:spPr>
          <a:xfrm>
            <a:off x="3506818" y="3453496"/>
            <a:ext cx="5178360" cy="2914376"/>
          </a:xfrm>
          <a:prstGeom prst="rect">
            <a:avLst/>
          </a:prstGeom>
        </p:spPr>
      </p:pic>
    </p:spTree>
    <p:extLst>
      <p:ext uri="{BB962C8B-B14F-4D97-AF65-F5344CB8AC3E}">
        <p14:creationId xmlns:p14="http://schemas.microsoft.com/office/powerpoint/2010/main" val="3164907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316A8-8672-A612-CA2A-FDBE8EE67F73}"/>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6FACE4A6-BCE6-4E3B-76E4-92EADDAC9FEE}"/>
              </a:ext>
            </a:extLst>
          </p:cNvPr>
          <p:cNvSpPr>
            <a:spLocks noGrp="1"/>
          </p:cNvSpPr>
          <p:nvPr>
            <p:ph idx="1"/>
          </p:nvPr>
        </p:nvSpPr>
        <p:spPr/>
        <p:txBody>
          <a:bodyPr/>
          <a:lstStyle/>
          <a:p>
            <a:r>
              <a:rPr lang="en-US" sz="1600" dirty="0"/>
              <a:t>Aune, D., Norat, T., </a:t>
            </a:r>
            <a:r>
              <a:rPr lang="en-US" sz="1600" dirty="0" err="1"/>
              <a:t>Leitzmann</a:t>
            </a:r>
            <a:r>
              <a:rPr lang="en-US" sz="1600" dirty="0"/>
              <a:t>, M., Tonstad, S., &amp; </a:t>
            </a:r>
            <a:r>
              <a:rPr lang="en-US" sz="1600" dirty="0" err="1"/>
              <a:t>Vatten</a:t>
            </a:r>
            <a:r>
              <a:rPr lang="en-US" sz="1600" dirty="0"/>
              <a:t>, L. J. (2015). Physical activity and the risk of type 2 diabetes: A systematic review and dose-response meta-analysis. </a:t>
            </a:r>
            <a:r>
              <a:rPr lang="en-US" sz="1600" i="1" dirty="0"/>
              <a:t>European Journal of Epidemiology, 30</a:t>
            </a:r>
            <a:r>
              <a:rPr lang="en-US" sz="1600" dirty="0"/>
              <a:t>(7), 529–542. </a:t>
            </a:r>
            <a:r>
              <a:rPr lang="en-US" sz="1600" dirty="0">
                <a:hlinkClick r:id="rId3"/>
              </a:rPr>
              <a:t>https://doi.org/10.1007/s10654-015-0056-z</a:t>
            </a:r>
            <a:endParaRPr lang="en-US" sz="1600" dirty="0"/>
          </a:p>
          <a:p>
            <a:r>
              <a:rPr lang="en-US" sz="1600" dirty="0"/>
              <a:t>Centers for Disease Control and Prevention. (2025). </a:t>
            </a:r>
            <a:r>
              <a:rPr lang="en-US" sz="1600" i="1" dirty="0"/>
              <a:t>Behavioral Risk Factor Surveillance System</a:t>
            </a:r>
            <a:r>
              <a:rPr lang="en-US" sz="1600" dirty="0"/>
              <a:t>. </a:t>
            </a:r>
            <a:r>
              <a:rPr lang="en-US" sz="1600" dirty="0">
                <a:hlinkClick r:id="rId4"/>
              </a:rPr>
              <a:t>https://www.cdc.gov/brfss/index.html</a:t>
            </a:r>
            <a:endParaRPr lang="en-US" sz="1600" dirty="0"/>
          </a:p>
          <a:p>
            <a:r>
              <a:rPr lang="en-US" sz="1600" dirty="0"/>
              <a:t>Parker, E. D., Lin, J., Mahoney, T., Ume, N., Yang, G., Gabbay, R. A., ElSayed, N. A., &amp; </a:t>
            </a:r>
            <a:r>
              <a:rPr lang="en-US" sz="1600" dirty="0" err="1"/>
              <a:t>Bannuru</a:t>
            </a:r>
            <a:r>
              <a:rPr lang="en-US" sz="1600" dirty="0"/>
              <a:t>, R. R. (2024). Economic costs of diabetes in the U.S. in 2022. </a:t>
            </a:r>
            <a:r>
              <a:rPr lang="en-US" sz="1600" i="1" dirty="0"/>
              <a:t>Diabetes Care, 47</a:t>
            </a:r>
            <a:r>
              <a:rPr lang="en-US" sz="1600" dirty="0"/>
              <a:t>(1), 26–43. </a:t>
            </a:r>
            <a:r>
              <a:rPr lang="en-US" sz="1600" dirty="0">
                <a:hlinkClick r:id="rId5"/>
              </a:rPr>
              <a:t>https://doi.org/10.2337/dci23-0085</a:t>
            </a:r>
            <a:endParaRPr lang="en-US" sz="1600" dirty="0"/>
          </a:p>
          <a:p>
            <a:r>
              <a:rPr lang="en-US" sz="1600" dirty="0"/>
              <a:t>Prats-Uribe, A., Paredes, R., Prieto-Alhambra, D., &amp; </a:t>
            </a:r>
            <a:r>
              <a:rPr lang="en-US" sz="1600" dirty="0" err="1"/>
              <a:t>Raventós</a:t>
            </a:r>
            <a:r>
              <a:rPr lang="en-US" sz="1600" dirty="0"/>
              <a:t>, B. (2024). Identifying top ten predictors of type 2 diabetes through machine learning analysis of UK Biobank data. </a:t>
            </a:r>
            <a:r>
              <a:rPr lang="en-US" sz="1600" i="1" dirty="0"/>
              <a:t>Scientific Reports, 14</a:t>
            </a:r>
            <a:r>
              <a:rPr lang="en-US" sz="1600" dirty="0"/>
              <a:t>, Article 2102. </a:t>
            </a:r>
            <a:r>
              <a:rPr lang="en-US" sz="1600" dirty="0">
                <a:hlinkClick r:id="rId6"/>
              </a:rPr>
              <a:t>https://doi.org/10.1038/s41598-024-52023-5</a:t>
            </a:r>
            <a:endParaRPr lang="en-US" sz="1600" dirty="0"/>
          </a:p>
          <a:p>
            <a:r>
              <a:rPr lang="en-US" sz="1600" dirty="0"/>
              <a:t>University of California Irvine Machine Learning Repository. (2023). </a:t>
            </a:r>
            <a:r>
              <a:rPr lang="en-US" sz="1600" i="1" dirty="0"/>
              <a:t>CDC diabetes health indicators</a:t>
            </a:r>
            <a:r>
              <a:rPr lang="en-US" sz="1600" dirty="0"/>
              <a:t>. </a:t>
            </a:r>
            <a:r>
              <a:rPr lang="en-US" sz="1600" dirty="0">
                <a:hlinkClick r:id="rId7"/>
              </a:rPr>
              <a:t>https://archive.ics.uci.edu/dataset/891/cdc+diabetes+health+indicators</a:t>
            </a:r>
            <a:endParaRPr lang="en-US" sz="1600" dirty="0"/>
          </a:p>
          <a:p>
            <a:r>
              <a:rPr lang="en-US" sz="1600" dirty="0"/>
              <a:t>U.S. Department of Health and Human Services. (2024). </a:t>
            </a:r>
            <a:r>
              <a:rPr lang="en-US" sz="1600" i="1" dirty="0"/>
              <a:t>The HIPAA Privacy Rule</a:t>
            </a:r>
            <a:r>
              <a:rPr lang="en-US" sz="1600" dirty="0"/>
              <a:t>. </a:t>
            </a:r>
            <a:r>
              <a:rPr lang="en-US" sz="1600" dirty="0">
                <a:hlinkClick r:id="rId8"/>
              </a:rPr>
              <a:t>https://www.hhs.gov/hipaa/for-professionals/privacy/index.html</a:t>
            </a:r>
            <a:endParaRPr lang="en-US" sz="1600" dirty="0"/>
          </a:p>
          <a:p>
            <a:endParaRPr lang="en-US" dirty="0"/>
          </a:p>
        </p:txBody>
      </p:sp>
    </p:spTree>
    <p:extLst>
      <p:ext uri="{BB962C8B-B14F-4D97-AF65-F5344CB8AC3E}">
        <p14:creationId xmlns:p14="http://schemas.microsoft.com/office/powerpoint/2010/main" val="1050530193"/>
      </p:ext>
    </p:extLst>
  </p:cSld>
  <p:clrMapOvr>
    <a:masterClrMapping/>
  </p:clrMapOvr>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ac_SD_V5 (Prismatic Polygons).pptx" id="{B385A2A1-EF3F-4C3B-9DAC-1996EB6D3A54}" vid="{B3C5DF8C-E290-4834-9BBD-6D53C49DE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{F293719D-271D-4691-B51F-D5FE658928A4}76eb6e63-359a-49aa-b46c-7c5b67ea33bb-TF1ddfefa5-03ef-44f0-b9f8-5e27349af6c5_win32</Template>
  <TotalTime>0</TotalTime>
  <Words>2109</Words>
  <Application>Microsoft Office PowerPoint</Application>
  <PresentationFormat>Widescreen</PresentationFormat>
  <Paragraphs>86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Light</vt:lpstr>
      <vt:lpstr>Arial</vt:lpstr>
      <vt:lpstr>Chamberi Super Display</vt:lpstr>
      <vt:lpstr>Prismatic polygons</vt:lpstr>
      <vt:lpstr>Using Business Intelligence to Analyze Diabetes Risk Patterns</vt:lpstr>
      <vt:lpstr>Project Purpose and Business Problem</vt:lpstr>
      <vt:lpstr>Dataset Overview</vt:lpstr>
      <vt:lpstr>Research Questions and Hypotheses</vt:lpstr>
      <vt:lpstr>Methods and Tools</vt:lpstr>
      <vt:lpstr>Key Descriptive Findings</vt:lpstr>
      <vt:lpstr>Hypothesis Test Results</vt:lpstr>
      <vt:lpstr>Logistic Regression Model Results</vt:lpstr>
      <vt:lpstr>Organizational Application and Recommendations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Khatri</dc:creator>
  <cp:lastModifiedBy>Jay Khatri</cp:lastModifiedBy>
  <cp:revision>1</cp:revision>
  <dcterms:created xsi:type="dcterms:W3CDTF">2026-07-31T02:59:08Z</dcterms:created>
  <dcterms:modified xsi:type="dcterms:W3CDTF">2026-08-01T19:11:55Z</dcterms:modified>
</cp:coreProperties>
</file>